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53e01edcc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53e01edcc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59ea06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59ea06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59ea06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59ea06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535d005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535d005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57aa031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57aa031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557aa031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557aa031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557aa031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557aa031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557aa031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557aa031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30561"/>
                </a:solidFill>
              </a:rPr>
              <a:t>Here we observe a tendency for delivery delays to increase in relation to the weight of the order. </a:t>
            </a:r>
            <a:endParaRPr sz="1200">
              <a:solidFill>
                <a:srgbClr val="13056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30561"/>
                </a:solidFill>
              </a:rPr>
              <a:t>Orders weighing up to 2 kg are delivered on time. </a:t>
            </a:r>
            <a:endParaRPr sz="1200">
              <a:solidFill>
                <a:srgbClr val="13056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30561"/>
                </a:solidFill>
              </a:rPr>
              <a:t>It suits Eniac as our focus is on high-end tech products.</a:t>
            </a:r>
            <a:endParaRPr sz="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53e01edcc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53e01edcc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557aa031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557aa031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5d995e2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5d995e2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557aa031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557aa03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58050"/>
            <a:ext cx="8520600" cy="24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b="1" sz="4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4800">
                <a:solidFill>
                  <a:srgbClr val="FF9900"/>
                </a:solidFill>
              </a:rPr>
              <a:t>Magist </a:t>
            </a:r>
            <a:endParaRPr b="1" sz="48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4800">
                <a:solidFill>
                  <a:srgbClr val="130561"/>
                </a:solidFill>
              </a:rPr>
              <a:t>as a Potential </a:t>
            </a:r>
            <a:r>
              <a:rPr b="1" lang="en" sz="4800">
                <a:solidFill>
                  <a:srgbClr val="130561"/>
                </a:solidFill>
              </a:rPr>
              <a:t>Partner</a:t>
            </a:r>
            <a:r>
              <a:rPr b="1" lang="en" sz="4800">
                <a:solidFill>
                  <a:srgbClr val="130561"/>
                </a:solidFill>
              </a:rPr>
              <a:t> for High-Tech Sales in Brazil</a:t>
            </a:r>
            <a:endParaRPr b="1" sz="4800">
              <a:solidFill>
                <a:srgbClr val="13056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4437249"/>
            <a:ext cx="85206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0561"/>
                </a:solidFill>
              </a:rPr>
              <a:t>Presented by:</a:t>
            </a:r>
            <a:endParaRPr>
              <a:solidFill>
                <a:srgbClr val="13056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0561"/>
                </a:solidFill>
              </a:rPr>
              <a:t>Oleksandra Tkachenko                            Sanaz Arianmanesh                                     Benno Klan</a:t>
            </a:r>
            <a:endParaRPr>
              <a:solidFill>
                <a:srgbClr val="13056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419700" y="3261350"/>
            <a:ext cx="2304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</a:rPr>
              <a:t>Strategy for Eniac</a:t>
            </a:r>
            <a:endParaRPr b="1" sz="1800">
              <a:solidFill>
                <a:schemeClr val="accent4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25" y="4040650"/>
            <a:ext cx="396600" cy="3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345975"/>
            <a:ext cx="8520600" cy="6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800">
                <a:solidFill>
                  <a:srgbClr val="130561"/>
                </a:solidFill>
              </a:rPr>
              <a:t>Magist Overview</a:t>
            </a:r>
            <a:endParaRPr b="1" sz="3800">
              <a:solidFill>
                <a:srgbClr val="13056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439775" y="1213200"/>
            <a:ext cx="71583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30561"/>
                </a:solidFill>
              </a:rPr>
              <a:t>Magist </a:t>
            </a:r>
            <a:r>
              <a:rPr lang="en" sz="2100">
                <a:solidFill>
                  <a:srgbClr val="130561"/>
                </a:solidFill>
              </a:rPr>
              <a:t>as a centralized order, logistics, and after-sales service provider that operates</a:t>
            </a:r>
            <a:r>
              <a:rPr b="1" lang="en" sz="2100">
                <a:solidFill>
                  <a:srgbClr val="130561"/>
                </a:solidFill>
              </a:rPr>
              <a:t> in Brazil </a:t>
            </a:r>
            <a:r>
              <a:rPr lang="en" sz="2100">
                <a:solidFill>
                  <a:srgbClr val="130561"/>
                </a:solidFill>
              </a:rPr>
              <a:t>with own warehouse</a:t>
            </a:r>
            <a:endParaRPr sz="2100">
              <a:solidFill>
                <a:srgbClr val="13056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30561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2100"/>
              <a:buFont typeface="Calibri"/>
              <a:buChar char="●"/>
            </a:pPr>
            <a:r>
              <a:rPr b="1" lang="en" sz="2100">
                <a:solidFill>
                  <a:srgbClr val="130561"/>
                </a:solidFill>
              </a:rPr>
              <a:t>Market entry plan:</a:t>
            </a:r>
            <a:r>
              <a:rPr lang="en" sz="2100">
                <a:solidFill>
                  <a:srgbClr val="130561"/>
                </a:solidFill>
              </a:rPr>
              <a:t> ENIAC considers a </a:t>
            </a:r>
            <a:r>
              <a:rPr b="1" lang="en" sz="2100">
                <a:solidFill>
                  <a:srgbClr val="130561"/>
                </a:solidFill>
              </a:rPr>
              <a:t>3-year partnership with Magist</a:t>
            </a:r>
            <a:r>
              <a:rPr lang="en" sz="2100">
                <a:solidFill>
                  <a:srgbClr val="130561"/>
                </a:solidFill>
              </a:rPr>
              <a:t> to enter Brazil</a:t>
            </a:r>
            <a:endParaRPr sz="2100">
              <a:solidFill>
                <a:srgbClr val="13056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30561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30561"/>
                </a:solidFill>
              </a:rPr>
              <a:t>25 months </a:t>
            </a:r>
            <a:r>
              <a:rPr lang="en" sz="2100">
                <a:solidFill>
                  <a:srgbClr val="130561"/>
                </a:solidFill>
              </a:rPr>
              <a:t>of Magist data are analyzed to assess fit for ENIAC’s high-end tech and delivery needs.</a:t>
            </a:r>
            <a:endParaRPr sz="2100">
              <a:solidFill>
                <a:srgbClr val="130561"/>
              </a:solidFill>
              <a:highlight>
                <a:schemeClr val="lt1"/>
              </a:highlight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0" y="451675"/>
            <a:ext cx="1809625" cy="1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213050"/>
            <a:ext cx="8520600" cy="6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30561"/>
                </a:solidFill>
              </a:rPr>
              <a:t>All products vs </a:t>
            </a:r>
            <a:r>
              <a:rPr b="1" lang="en" sz="3800">
                <a:solidFill>
                  <a:srgbClr val="130561"/>
                </a:solidFill>
              </a:rPr>
              <a:t>tech products</a:t>
            </a:r>
            <a:endParaRPr b="1" sz="3800">
              <a:solidFill>
                <a:srgbClr val="13056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162" y="1023370"/>
            <a:ext cx="6527675" cy="35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2650" y="852042"/>
            <a:ext cx="584750" cy="38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11700" y="213050"/>
            <a:ext cx="8520600" cy="6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30561"/>
                </a:solidFill>
              </a:rPr>
              <a:t>Are expensive tech products popular?</a:t>
            </a:r>
            <a:endParaRPr b="1" sz="3800">
              <a:solidFill>
                <a:srgbClr val="13056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63" y="821600"/>
            <a:ext cx="5980475" cy="33147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380650" y="4244017"/>
            <a:ext cx="438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Eniac avg. Item price: 540 €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Magist avg. Item price: 121 €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433475" y="286799"/>
            <a:ext cx="3647700" cy="66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30561"/>
                </a:solidFill>
              </a:rPr>
              <a:t>Number of Sellers: </a:t>
            </a:r>
            <a:endParaRPr b="1" sz="2100">
              <a:solidFill>
                <a:srgbClr val="13056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30561"/>
                </a:solidFill>
              </a:rPr>
              <a:t>Tech vs Non-Tech</a:t>
            </a:r>
            <a:endParaRPr b="1" sz="2100"/>
          </a:p>
        </p:txBody>
      </p:sp>
      <p:sp>
        <p:nvSpPr>
          <p:cNvPr id="84" name="Google Shape;84;p17"/>
          <p:cNvSpPr txBox="1"/>
          <p:nvPr/>
        </p:nvSpPr>
        <p:spPr>
          <a:xfrm>
            <a:off x="152375" y="3793857"/>
            <a:ext cx="3928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800">
                <a:solidFill>
                  <a:srgbClr val="130561"/>
                </a:solidFill>
              </a:rPr>
              <a:t>Tech sellers represent a </a:t>
            </a:r>
            <a:r>
              <a:rPr b="1" lang="en" sz="2400">
                <a:solidFill>
                  <a:srgbClr val="FF9900"/>
                </a:solidFill>
              </a:rPr>
              <a:t>small minority</a:t>
            </a:r>
            <a:r>
              <a:rPr b="1" lang="en" sz="1800">
                <a:solidFill>
                  <a:srgbClr val="130561"/>
                </a:solidFill>
              </a:rPr>
              <a:t> compared to non-tech sellers</a:t>
            </a:r>
            <a:endParaRPr b="1" sz="2400">
              <a:solidFill>
                <a:srgbClr val="FF9900"/>
              </a:solidFill>
            </a:endParaRPr>
          </a:p>
        </p:txBody>
      </p:sp>
      <p:sp>
        <p:nvSpPr>
          <p:cNvPr id="85" name="Google Shape;85;p17"/>
          <p:cNvSpPr txBox="1"/>
          <p:nvPr>
            <p:ph type="ctrTitle"/>
          </p:nvPr>
        </p:nvSpPr>
        <p:spPr>
          <a:xfrm>
            <a:off x="5029428" y="286812"/>
            <a:ext cx="3647700" cy="66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30561"/>
                </a:solidFill>
              </a:rPr>
              <a:t>Revenue Share: </a:t>
            </a:r>
            <a:endParaRPr b="1" sz="2100">
              <a:solidFill>
                <a:srgbClr val="13056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30561"/>
                </a:solidFill>
              </a:rPr>
              <a:t>Tech vs Non-Tech</a:t>
            </a:r>
            <a:endParaRPr b="1" sz="2100">
              <a:solidFill>
                <a:srgbClr val="130561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5715585" y="3680750"/>
            <a:ext cx="30000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800">
                <a:solidFill>
                  <a:srgbClr val="130561"/>
                </a:solidFill>
              </a:rPr>
              <a:t>Tech sellers play a </a:t>
            </a:r>
            <a:r>
              <a:rPr b="1" lang="en" sz="2400">
                <a:solidFill>
                  <a:srgbClr val="FF9900"/>
                </a:solidFill>
              </a:rPr>
              <a:t>limited role</a:t>
            </a:r>
            <a:r>
              <a:rPr b="1" lang="en" sz="1800">
                <a:solidFill>
                  <a:srgbClr val="130561"/>
                </a:solidFill>
              </a:rPr>
              <a:t> in overall revenue. </a:t>
            </a:r>
            <a:endParaRPr b="1" sz="1800">
              <a:solidFill>
                <a:srgbClr val="130561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250" y="1105799"/>
            <a:ext cx="2509590" cy="24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075" y="1132728"/>
            <a:ext cx="2528186" cy="2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1474575" y="216525"/>
            <a:ext cx="6630600" cy="4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30561"/>
                </a:solidFill>
              </a:rPr>
              <a:t>Average Time from Order Placement to Delivery</a:t>
            </a:r>
            <a:endParaRPr b="1" sz="2200">
              <a:solidFill>
                <a:srgbClr val="130561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00" y="813758"/>
            <a:ext cx="8316748" cy="32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661075" y="4170630"/>
            <a:ext cx="7801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0561"/>
              </a:buClr>
              <a:buSzPts val="1800"/>
              <a:buChar char="●"/>
            </a:pPr>
            <a:r>
              <a:rPr lang="en" sz="1800">
                <a:solidFill>
                  <a:srgbClr val="130561"/>
                </a:solidFill>
              </a:rPr>
              <a:t>Brazil’s size results in long delivery times of about</a:t>
            </a:r>
            <a:r>
              <a:rPr b="1" lang="en" sz="1800">
                <a:solidFill>
                  <a:srgbClr val="FF9900"/>
                </a:solidFill>
              </a:rPr>
              <a:t> 21 days </a:t>
            </a:r>
            <a:r>
              <a:rPr lang="en" sz="1800">
                <a:solidFill>
                  <a:srgbClr val="130561"/>
                </a:solidFill>
              </a:rPr>
              <a:t>in 2020.</a:t>
            </a:r>
            <a:endParaRPr sz="1800">
              <a:solidFill>
                <a:srgbClr val="13056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800"/>
              <a:buChar char="●"/>
            </a:pPr>
            <a:r>
              <a:rPr lang="en" sz="1800">
                <a:solidFill>
                  <a:srgbClr val="130561"/>
                </a:solidFill>
              </a:rPr>
              <a:t>Average delivery time is </a:t>
            </a:r>
            <a:r>
              <a:rPr b="1" lang="en" sz="1800">
                <a:solidFill>
                  <a:srgbClr val="FF9900"/>
                </a:solidFill>
              </a:rPr>
              <a:t>12 days</a:t>
            </a:r>
            <a:r>
              <a:rPr lang="en" sz="1800">
                <a:solidFill>
                  <a:srgbClr val="130561"/>
                </a:solidFill>
              </a:rPr>
              <a:t>, which </a:t>
            </a:r>
            <a:r>
              <a:rPr b="1" lang="en" sz="1800">
                <a:solidFill>
                  <a:srgbClr val="FF9900"/>
                </a:solidFill>
              </a:rPr>
              <a:t>improved </a:t>
            </a:r>
            <a:r>
              <a:rPr lang="en" sz="1800">
                <a:solidFill>
                  <a:srgbClr val="130561"/>
                </a:solidFill>
              </a:rPr>
              <a:t>in </a:t>
            </a:r>
            <a:r>
              <a:rPr b="1" lang="en" sz="1800">
                <a:solidFill>
                  <a:srgbClr val="FF9900"/>
                </a:solidFill>
              </a:rPr>
              <a:t>2018</a:t>
            </a:r>
            <a:r>
              <a:rPr lang="en" sz="1800">
                <a:solidFill>
                  <a:srgbClr val="130561"/>
                </a:solidFill>
              </a:rPr>
              <a:t>.</a:t>
            </a:r>
            <a:endParaRPr sz="1800">
              <a:solidFill>
                <a:srgbClr val="13056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ctrTitle"/>
          </p:nvPr>
        </p:nvSpPr>
        <p:spPr>
          <a:xfrm>
            <a:off x="311700" y="0"/>
            <a:ext cx="85206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00">
                <a:solidFill>
                  <a:srgbClr val="130561"/>
                </a:solidFill>
              </a:rPr>
              <a:t>Average Delivery Time by State (Days)</a:t>
            </a:r>
            <a:endParaRPr b="1" sz="2600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7800"/>
            <a:ext cx="4035737" cy="326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537" y="757800"/>
            <a:ext cx="159067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4505975" y="2208025"/>
            <a:ext cx="4130100" cy="2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800"/>
              <a:buChar char="●"/>
            </a:pPr>
            <a:r>
              <a:rPr lang="en" sz="1800">
                <a:solidFill>
                  <a:srgbClr val="130561"/>
                </a:solidFill>
              </a:rPr>
              <a:t>Delivery times </a:t>
            </a:r>
            <a:r>
              <a:rPr b="1" lang="en" sz="1800">
                <a:solidFill>
                  <a:srgbClr val="FF9900"/>
                </a:solidFill>
              </a:rPr>
              <a:t>vary significantly</a:t>
            </a:r>
            <a:r>
              <a:rPr lang="en" sz="1800">
                <a:solidFill>
                  <a:srgbClr val="130561"/>
                </a:solidFill>
              </a:rPr>
              <a:t> across states, with some regions showing consistently longer delivery durations.</a:t>
            </a:r>
            <a:endParaRPr sz="1800">
              <a:solidFill>
                <a:srgbClr val="13056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3056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>
                <a:solidFill>
                  <a:srgbClr val="130561"/>
                </a:solidFill>
              </a:rPr>
              <a:t>Delivery in </a:t>
            </a:r>
            <a:r>
              <a:rPr b="1" lang="en" sz="1820">
                <a:solidFill>
                  <a:srgbClr val="130561"/>
                </a:solidFill>
              </a:rPr>
              <a:t>São Paulo</a:t>
            </a:r>
            <a:r>
              <a:rPr lang="en" sz="1620">
                <a:solidFill>
                  <a:srgbClr val="130561"/>
                </a:solidFill>
              </a:rPr>
              <a:t> </a:t>
            </a:r>
            <a:r>
              <a:rPr lang="en" sz="1800">
                <a:solidFill>
                  <a:srgbClr val="130561"/>
                </a:solidFill>
              </a:rPr>
              <a:t>state takes </a:t>
            </a:r>
            <a:r>
              <a:rPr b="1" lang="en" sz="1800">
                <a:solidFill>
                  <a:schemeClr val="accent4"/>
                </a:solidFill>
              </a:rPr>
              <a:t>9 days.</a:t>
            </a:r>
            <a:endParaRPr b="1" sz="1800">
              <a:solidFill>
                <a:schemeClr val="accent4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3056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311700" y="179275"/>
            <a:ext cx="8561100" cy="6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00">
                <a:solidFill>
                  <a:srgbClr val="130561"/>
                </a:solidFill>
              </a:rPr>
              <a:t>Order delivered on time vs orders delivered with a delay</a:t>
            </a:r>
            <a:endParaRPr b="1" sz="2400">
              <a:solidFill>
                <a:srgbClr val="130561"/>
              </a:solidFill>
            </a:endParaRPr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4857925" y="1651350"/>
            <a:ext cx="4064100" cy="18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>
                <a:solidFill>
                  <a:srgbClr val="130561"/>
                </a:solidFill>
              </a:rPr>
              <a:t>Approximately </a:t>
            </a:r>
            <a:r>
              <a:rPr b="1" lang="en">
                <a:solidFill>
                  <a:schemeClr val="accent4"/>
                </a:solidFill>
              </a:rPr>
              <a:t>7%</a:t>
            </a:r>
            <a:r>
              <a:rPr lang="en">
                <a:solidFill>
                  <a:srgbClr val="130561"/>
                </a:solidFill>
              </a:rPr>
              <a:t> of delivered orders were </a:t>
            </a:r>
            <a:r>
              <a:rPr b="1" lang="en">
                <a:solidFill>
                  <a:schemeClr val="accent4"/>
                </a:solidFill>
              </a:rPr>
              <a:t>delayed</a:t>
            </a:r>
            <a:endParaRPr b="1">
              <a:solidFill>
                <a:schemeClr val="accent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30561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>
                <a:solidFill>
                  <a:srgbClr val="130561"/>
                </a:solidFill>
              </a:rPr>
              <a:t>About </a:t>
            </a:r>
            <a:r>
              <a:rPr b="1" lang="en">
                <a:solidFill>
                  <a:schemeClr val="accent4"/>
                </a:solidFill>
              </a:rPr>
              <a:t>93% </a:t>
            </a:r>
            <a:r>
              <a:rPr lang="en">
                <a:solidFill>
                  <a:srgbClr val="130561"/>
                </a:solidFill>
              </a:rPr>
              <a:t>of orders were delivered </a:t>
            </a:r>
            <a:r>
              <a:rPr b="1" lang="en">
                <a:solidFill>
                  <a:schemeClr val="accent4"/>
                </a:solidFill>
              </a:rPr>
              <a:t>on time</a:t>
            </a:r>
            <a:endParaRPr b="1">
              <a:solidFill>
                <a:schemeClr val="accent4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00" y="1312800"/>
            <a:ext cx="4304702" cy="27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ctrTitle"/>
          </p:nvPr>
        </p:nvSpPr>
        <p:spPr>
          <a:xfrm>
            <a:off x="410100" y="260250"/>
            <a:ext cx="85206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00">
                <a:solidFill>
                  <a:srgbClr val="130561"/>
                </a:solidFill>
              </a:rPr>
              <a:t>Average Weight vs Delay Range</a:t>
            </a:r>
            <a:endParaRPr b="1" sz="2700">
              <a:solidFill>
                <a:srgbClr val="130561"/>
              </a:solidFill>
            </a:endParaRPr>
          </a:p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331950" y="3818875"/>
            <a:ext cx="75078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800"/>
              <a:buChar char="●"/>
            </a:pPr>
            <a:r>
              <a:rPr lang="en" sz="1800">
                <a:solidFill>
                  <a:srgbClr val="130561"/>
                </a:solidFill>
              </a:rPr>
              <a:t>Orders weighing </a:t>
            </a:r>
            <a:r>
              <a:rPr b="1" lang="en" sz="1800">
                <a:solidFill>
                  <a:srgbClr val="FF9900"/>
                </a:solidFill>
              </a:rPr>
              <a:t>up to 2 kg</a:t>
            </a:r>
            <a:r>
              <a:rPr lang="en" sz="1800">
                <a:solidFill>
                  <a:srgbClr val="130561"/>
                </a:solidFill>
              </a:rPr>
              <a:t> are delivered </a:t>
            </a:r>
            <a:r>
              <a:rPr b="1" lang="en" sz="1800">
                <a:solidFill>
                  <a:srgbClr val="FF9900"/>
                </a:solidFill>
              </a:rPr>
              <a:t>on time</a:t>
            </a:r>
            <a:r>
              <a:rPr lang="en" sz="1800">
                <a:solidFill>
                  <a:srgbClr val="130561"/>
                </a:solidFill>
              </a:rPr>
              <a:t>. </a:t>
            </a:r>
            <a:endParaRPr sz="1800">
              <a:solidFill>
                <a:srgbClr val="130561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38" y="1489850"/>
            <a:ext cx="8480125" cy="1971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/>
        </p:nvSpPr>
        <p:spPr>
          <a:xfrm>
            <a:off x="738700" y="985300"/>
            <a:ext cx="75768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✅</a:t>
            </a:r>
            <a:r>
              <a:rPr b="1" lang="en" sz="1600">
                <a:solidFill>
                  <a:srgbClr val="130561"/>
                </a:solidFill>
              </a:rPr>
              <a:t> </a:t>
            </a:r>
            <a:r>
              <a:rPr b="1" lang="en" sz="1600">
                <a:solidFill>
                  <a:srgbClr val="130561"/>
                </a:solidFill>
              </a:rPr>
              <a:t>Magist </a:t>
            </a:r>
            <a:r>
              <a:rPr b="1" lang="en" sz="1800">
                <a:solidFill>
                  <a:srgbClr val="130561"/>
                </a:solidFill>
              </a:rPr>
              <a:t>fits </a:t>
            </a:r>
            <a:r>
              <a:rPr b="1" lang="en" sz="1600">
                <a:solidFill>
                  <a:srgbClr val="130561"/>
                </a:solidFill>
              </a:rPr>
              <a:t>to Eniac’s needs as a short-term entry partner:</a:t>
            </a:r>
            <a:endParaRPr b="1" sz="1600">
              <a:solidFill>
                <a:srgbClr val="13056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30561"/>
              </a:solidFill>
            </a:endParaRPr>
          </a:p>
          <a:p>
            <a:pPr indent="-3175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400"/>
              <a:buChar char="●"/>
            </a:pPr>
            <a:r>
              <a:rPr b="1" lang="en" sz="1500">
                <a:solidFill>
                  <a:srgbClr val="130561"/>
                </a:solidFill>
              </a:rPr>
              <a:t>Growing delivery volume</a:t>
            </a:r>
            <a:r>
              <a:rPr b="1" lang="en" sz="1100">
                <a:solidFill>
                  <a:srgbClr val="130561"/>
                </a:solidFill>
              </a:rPr>
              <a:t> </a:t>
            </a:r>
            <a:endParaRPr sz="1100">
              <a:solidFill>
                <a:srgbClr val="130561"/>
              </a:solidFill>
            </a:endParaRPr>
          </a:p>
          <a:p>
            <a:pPr indent="-3175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400"/>
              <a:buChar char="●"/>
            </a:pPr>
            <a:r>
              <a:rPr b="1" lang="en" sz="1500">
                <a:solidFill>
                  <a:srgbClr val="130561"/>
                </a:solidFill>
              </a:rPr>
              <a:t>Improving delivery performance</a:t>
            </a:r>
            <a:r>
              <a:rPr b="1" lang="en" sz="1300">
                <a:solidFill>
                  <a:srgbClr val="130561"/>
                </a:solidFill>
              </a:rPr>
              <a:t> </a:t>
            </a:r>
            <a:endParaRPr b="1" sz="1300">
              <a:solidFill>
                <a:srgbClr val="13056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3056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30561"/>
                </a:solidFill>
              </a:rPr>
              <a:t>⚠️ </a:t>
            </a:r>
            <a:r>
              <a:rPr b="1" lang="en" sz="1500">
                <a:solidFill>
                  <a:srgbClr val="130561"/>
                </a:solidFill>
              </a:rPr>
              <a:t>B</a:t>
            </a:r>
            <a:r>
              <a:rPr b="1" lang="en" sz="1500">
                <a:solidFill>
                  <a:srgbClr val="130561"/>
                </a:solidFill>
              </a:rPr>
              <a:t>ut </a:t>
            </a:r>
            <a:r>
              <a:rPr b="1" lang="en" sz="1700">
                <a:solidFill>
                  <a:srgbClr val="130561"/>
                </a:solidFill>
              </a:rPr>
              <a:t>not an ideal long-term partner</a:t>
            </a:r>
            <a:r>
              <a:rPr b="1" lang="en" sz="1600">
                <a:solidFill>
                  <a:srgbClr val="130561"/>
                </a:solidFill>
              </a:rPr>
              <a:t> </a:t>
            </a:r>
            <a:r>
              <a:rPr b="1" lang="en" sz="1500">
                <a:solidFill>
                  <a:srgbClr val="130561"/>
                </a:solidFill>
              </a:rPr>
              <a:t>for ENIAC’s high-end tech strategy:</a:t>
            </a:r>
            <a:endParaRPr b="1" sz="1500">
              <a:solidFill>
                <a:srgbClr val="13056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30561"/>
              </a:solidFill>
            </a:endParaRPr>
          </a:p>
          <a:p>
            <a:pPr indent="-3175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400"/>
              <a:buChar char="●"/>
            </a:pPr>
            <a:r>
              <a:rPr b="1" lang="en" sz="1500">
                <a:solidFill>
                  <a:srgbClr val="130561"/>
                </a:solidFill>
              </a:rPr>
              <a:t>Low tech focus</a:t>
            </a:r>
            <a:r>
              <a:rPr b="1" lang="en" sz="1100">
                <a:solidFill>
                  <a:srgbClr val="130561"/>
                </a:solidFill>
              </a:rPr>
              <a:t> </a:t>
            </a:r>
            <a:endParaRPr b="1" sz="1100">
              <a:solidFill>
                <a:srgbClr val="130561"/>
              </a:solidFill>
            </a:endParaRPr>
          </a:p>
          <a:p>
            <a:pPr indent="-32385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ts val="1500"/>
              <a:buChar char="●"/>
            </a:pPr>
            <a:r>
              <a:rPr b="1" lang="en" sz="1500">
                <a:solidFill>
                  <a:srgbClr val="130561"/>
                </a:solidFill>
              </a:rPr>
              <a:t>Delivery risk for large products</a:t>
            </a:r>
            <a:endParaRPr b="1" sz="1500">
              <a:solidFill>
                <a:srgbClr val="130561"/>
              </a:solidFill>
            </a:endParaRPr>
          </a:p>
        </p:txBody>
      </p:sp>
      <p:sp>
        <p:nvSpPr>
          <p:cNvPr id="123" name="Google Shape;123;p22"/>
          <p:cNvSpPr txBox="1"/>
          <p:nvPr>
            <p:ph type="ctrTitle"/>
          </p:nvPr>
        </p:nvSpPr>
        <p:spPr>
          <a:xfrm>
            <a:off x="266800" y="178075"/>
            <a:ext cx="8520600" cy="5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00">
                <a:solidFill>
                  <a:srgbClr val="130561"/>
                </a:solidFill>
              </a:rPr>
              <a:t>Conclusion</a:t>
            </a:r>
            <a:endParaRPr b="1" sz="3400">
              <a:solidFill>
                <a:srgbClr val="13056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3875" y="637375"/>
            <a:ext cx="1136100" cy="12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ctrTitle"/>
          </p:nvPr>
        </p:nvSpPr>
        <p:spPr>
          <a:xfrm>
            <a:off x="114225" y="1922825"/>
            <a:ext cx="8520600" cy="8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130561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idx="1" type="subTitle"/>
          </p:nvPr>
        </p:nvSpPr>
        <p:spPr>
          <a:xfrm>
            <a:off x="437375" y="1779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30561"/>
                </a:solidFill>
              </a:rPr>
              <a:t>Appendix</a:t>
            </a:r>
            <a:endParaRPr b="1" sz="3600">
              <a:solidFill>
                <a:srgbClr val="13056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ctrTitle"/>
          </p:nvPr>
        </p:nvSpPr>
        <p:spPr>
          <a:xfrm>
            <a:off x="356425" y="333100"/>
            <a:ext cx="8520600" cy="6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80">
                <a:solidFill>
                  <a:srgbClr val="130561"/>
                </a:solidFill>
              </a:rPr>
              <a:t>Potential </a:t>
            </a:r>
            <a:r>
              <a:rPr b="1" lang="en" sz="3380">
                <a:solidFill>
                  <a:srgbClr val="130561"/>
                </a:solidFill>
              </a:rPr>
              <a:t>Competitors</a:t>
            </a:r>
            <a:endParaRPr b="1" sz="3380">
              <a:solidFill>
                <a:srgbClr val="130561"/>
              </a:solidFill>
            </a:endParaRPr>
          </a:p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522725" y="1075300"/>
            <a:ext cx="8520600" cy="3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rgbClr val="13056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130561"/>
                </a:solidFill>
              </a:rPr>
              <a:t>Mercado Livre (MELI)</a:t>
            </a:r>
            <a:r>
              <a:rPr lang="en" sz="5600">
                <a:solidFill>
                  <a:srgbClr val="130561"/>
                </a:solidFill>
              </a:rPr>
              <a:t>:</a:t>
            </a:r>
            <a:endParaRPr sz="5600">
              <a:solidFill>
                <a:srgbClr val="13056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 sz="7200">
                <a:solidFill>
                  <a:srgbClr val="130561"/>
                </a:solidFill>
              </a:rPr>
              <a:t>founded in 1999 </a:t>
            </a:r>
            <a:endParaRPr sz="7200">
              <a:solidFill>
                <a:srgbClr val="13056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 sz="7200">
                <a:solidFill>
                  <a:srgbClr val="130561"/>
                </a:solidFill>
              </a:rPr>
              <a:t>recognized as a market leader in Brazil’s online shopping ecosystem</a:t>
            </a:r>
            <a:endParaRPr sz="7200">
              <a:solidFill>
                <a:srgbClr val="13056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 sz="7200">
                <a:solidFill>
                  <a:srgbClr val="130561"/>
                </a:solidFill>
              </a:rPr>
              <a:t>offers </a:t>
            </a:r>
            <a:r>
              <a:rPr b="1" lang="en" sz="7200">
                <a:solidFill>
                  <a:schemeClr val="accent4"/>
                </a:solidFill>
              </a:rPr>
              <a:t>same-day or next-day</a:t>
            </a:r>
            <a:r>
              <a:rPr b="1" lang="en" sz="7200">
                <a:solidFill>
                  <a:srgbClr val="130561"/>
                </a:solidFill>
              </a:rPr>
              <a:t> </a:t>
            </a:r>
            <a:r>
              <a:rPr lang="en" sz="7200">
                <a:solidFill>
                  <a:srgbClr val="130561"/>
                </a:solidFill>
              </a:rPr>
              <a:t>delivery in large metropolitan areas</a:t>
            </a:r>
            <a:endParaRPr sz="7200">
              <a:solidFill>
                <a:srgbClr val="13056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30561"/>
                </a:solidFill>
              </a:rPr>
              <a:t>such as São Paulo</a:t>
            </a:r>
            <a:endParaRPr sz="7200">
              <a:solidFill>
                <a:srgbClr val="13056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 sz="7200">
                <a:solidFill>
                  <a:srgbClr val="130561"/>
                </a:solidFill>
              </a:rPr>
              <a:t>remote areas within 7-15+ days by the state postal service (Correios)</a:t>
            </a:r>
            <a:endParaRPr sz="7200">
              <a:solidFill>
                <a:srgbClr val="13056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30561"/>
              </a:buClr>
              <a:buSzPct val="100000"/>
              <a:buChar char="●"/>
            </a:pPr>
            <a:r>
              <a:rPr lang="en" sz="7200">
                <a:solidFill>
                  <a:srgbClr val="130561"/>
                </a:solidFill>
              </a:rPr>
              <a:t>logistics infrastructure expanded</a:t>
            </a:r>
            <a:endParaRPr sz="7200">
              <a:solidFill>
                <a:srgbClr val="130561"/>
              </a:solidFill>
            </a:endParaRPr>
          </a:p>
          <a:p>
            <a:pPr indent="0" lvl="0" marL="0" rtl="0" algn="just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rgbClr val="13056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